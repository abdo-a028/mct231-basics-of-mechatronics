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796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1206004879_whole_real_life_project.jpeg"/>
          <p:cNvPicPr>
            <a:picLocks noChangeAspect="1"/>
          </p:cNvPicPr>
          <p:nvPr/>
        </p:nvPicPr>
        <p:blipFill>
          <a:blip r:embed="rId3">
            <a:alphaModFix amt="28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D1117">
              <a:alpha val="80000"/>
            </a:srgbClr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97680" y="1051560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PLANETSORT: ORBITQUEST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Interactive Mechatronic Product Design System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2880360"/>
            <a:ext cx="594360" cy="594360"/>
          </a:xfrm>
          <a:prstGeom prst="ellipse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6324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SECTOR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ORBIT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03520" y="2880360"/>
            <a:ext cx="594360" cy="594360"/>
          </a:xfrm>
          <a:prstGeom prst="ellipse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2834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GAEA SECTOR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ORBIT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9319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" y="393192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Atef M. Riad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24P0103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25980" y="39319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99132" y="393192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Wahdan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24P0222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94760" y="39319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867912" y="393192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Amr Nazih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24P0372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63540" y="39319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6692" y="393192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Yahya Ashraf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24P0370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132320" y="39319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05472" y="393192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Abdoulrahman Adel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24P0098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 ·  University of East London  ·  Project Defense 2026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CACE8C9-8F22-43C5-E3E1-0A915F507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924" y="179179"/>
            <a:ext cx="1058962" cy="10589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844A53E-19E2-630F-5E33-B1A5D988FA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116" b="25873"/>
          <a:stretch>
            <a:fillRect/>
          </a:stretch>
        </p:blipFill>
        <p:spPr>
          <a:xfrm>
            <a:off x="7315490" y="504869"/>
            <a:ext cx="1568695" cy="6747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an autonomous, space-themed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planetary sorting and launching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cognitive development and STEM engagement.</a:t>
            </a:r>
            <a:endParaRPr lang="en-US" sz="1700" dirty="0"/>
          </a:p>
        </p:txBody>
      </p:sp>
      <p:pic>
        <p:nvPicPr>
          <p:cNvPr id="5" name="Image 0" descr="/mnt/user-data/uploads/1781206004879_whole_real_life_project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2560320"/>
            <a:ext cx="6400800" cy="228600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solidFill>
            <a:srgbClr val="0D1117">
              <a:alpha val="90000"/>
            </a:srgbClr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44988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 prototype — assembled for defense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Research &amp; Target Persona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146304" cy="146304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46304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Audience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3785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2–10 years. Focused research indicates high engagement for age 8 through visually stimulating mechanical feedback and goal-oriented tasks.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56632" y="1234440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73752" y="1463040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Needs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65192" y="1965960"/>
            <a:ext cx="37856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stimulation (moving parts), color recognition, hand-eye coordination, and a safe, intuitive interface for 'closed-loop' play.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 Range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0" y="4663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4663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Footprint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81206004877_sorting_rea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246888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Sorting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" y="3703320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color detection and path routing using optical sensing logic.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154680" y="960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user-data/uploads/1781206004878_lifting_re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1051560"/>
            <a:ext cx="2468880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4612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Lifting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64408" y="3703320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vertical transit via an Archimedes spiral mechanism.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943600" y="96012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mnt/user-data/uploads/1781206004877_shooting_real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5040" y="1051560"/>
            <a:ext cx="2468880" cy="2103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Orbital Launch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053328" y="3703320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High-velocity calibrated projection into a target basketball hoop.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I: PlanetScan Sorting</a:t>
            </a:r>
            <a:endParaRPr lang="en-US" sz="2800" dirty="0"/>
          </a:p>
        </p:txBody>
      </p:sp>
      <p:pic>
        <p:nvPicPr>
          <p:cNvPr id="3" name="Image 0" descr="/mnt/user-data/uploads/1781206004877_sorting_rea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4754880" cy="384048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0" y="960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sorting subsystem identifies planetary marbles by wavelength using the TCS3200 sensor array. Dual SG90 micro-servos actuate high-speed gates to route the spheres.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394960" y="242316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596128" y="2642616"/>
            <a:ext cx="155448" cy="1554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70448" y="2423160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RGB frequency analysis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3172968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96128" y="3392424"/>
            <a:ext cx="155448" cy="1554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70448" y="3172968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optical gating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922776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96128" y="4142232"/>
            <a:ext cx="155448" cy="155448"/>
          </a:xfrm>
          <a:prstGeom prst="ellipse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70448" y="3922776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error-correction routing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II: Orbital Elevator</a:t>
            </a:r>
            <a:endParaRPr lang="en-US" sz="2800" dirty="0"/>
          </a:p>
        </p:txBody>
      </p:sp>
      <p:pic>
        <p:nvPicPr>
          <p:cNvPr id="3" name="Image 0" descr="/mnt/user-data/uploads/1781206004878_lifting_rea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914400"/>
            <a:ext cx="4572000" cy="384048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57200" y="1005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lifting mechanism utilizes a NEMA 17 stepper motor to drive a 3D-printed helical flight screw within a smooth-walled cylinder.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provides precise vertical positioning for the launch bay, ensuring the system is ready for the high-velocity shooting phase.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42900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34290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3429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17 Stepper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3931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Archimedes Spiral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43484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4434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00200" y="4434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3D-Printed PLA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III: Hyperspace Thruster</a:t>
            </a:r>
            <a:endParaRPr lang="en-US" sz="2800" dirty="0"/>
          </a:p>
        </p:txBody>
      </p:sp>
      <p:pic>
        <p:nvPicPr>
          <p:cNvPr id="3" name="Image 0" descr="/mnt/user-data/uploads/1781206004877_shooting_real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4754880" cy="384048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0" y="9601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shooting module utilizes twin counter-rotating friction wheels driven by high-RPM DC motors. Calibration ensures repeatable orbital injection.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modulating the PWM duty cycle, we achieve the precise initial velocity required to overcome gravity and reach the target hoop.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94960" y="356616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94960" y="3611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9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 m/s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39496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Launch Velocity  ·  β = 30°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Master-Slave Control Logic</a:t>
            </a:r>
            <a:endParaRPr lang="en-US" sz="2800" dirty="0"/>
          </a:p>
        </p:txBody>
      </p:sp>
      <p:pic>
        <p:nvPicPr>
          <p:cNvPr id="3" name="Image 0" descr="/mnt/user-data/uploads/1781206004878_control_for_2_diff_color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3200400" cy="393192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840480" y="96012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059936" y="1216152"/>
            <a:ext cx="182880" cy="18288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352544" y="1124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Master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86784" y="16002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high-level tasks: Color sensing, TFT display, Bluetooth telemetry, and ESP-NOW communication with the slave controller.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0" y="301752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59936" y="3273552"/>
            <a:ext cx="182880" cy="18288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52544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 Slave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986784" y="36576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to low-level actuation: Precise stepper pulses, DC motor PWM curves, and servo timing isolation.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via ESP-NOW wireless protocol · 2.4 GHz band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Interfaces: Mission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81206004878_control_for_2_diff_color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051560"/>
            <a:ext cx="38404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Control Panel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041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onboard display · Colour detection readout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&amp; Red button input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96012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user-data/uploads/1781206004880_application_UI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40680" y="1051560"/>
            <a:ext cx="2560320" cy="2468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Sorter App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663440" y="40416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remote control · Score tracking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speed slider · RGB sensor raw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457200" y="960120"/>
                <a:ext cx="822960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𝑜</m:t>
                          </m:r>
                        </m:sub>
                      </m:sSub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=  </m:t>
                      </m:r>
                      <m:f>
                        <m:fPr>
                          <m:ctrlPr>
                            <a:rPr lang="en-US" sz="160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</m:ctrlPr>
                        </m:fPr>
                        <m:num>
                          <m:r>
                            <a:rPr lang="en-US" sz="1600" b="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ea typeface="Courier New" pitchFamily="34" charset="-122"/>
                              <a:cs typeface="Courier New" pitchFamily="34" charset="-120"/>
                            </a:rPr>
                            <m:t>𝑑</m:t>
                          </m:r>
                        </m:num>
                        <m:den>
                          <m:func>
                            <m:funcPr>
                              <m:ctrlPr>
                                <a:rPr lang="en-US" sz="1600" i="1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  ×  </m:t>
                      </m:r>
                      <m:rad>
                        <m:radPr>
                          <m:degHide m:val="on"/>
                          <m:ctrlPr>
                            <a:rPr lang="en-US" sz="1600" i="1" dirty="0" smtClean="0">
                              <a:solidFill>
                                <a:srgbClr val="79C0FF"/>
                              </a:solidFill>
                              <a:latin typeface="Cambria Math" panose="02040503050406030204" pitchFamily="18" charset="0"/>
                              <a:cs typeface="Courier New" pitchFamily="34" charset="-12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i="1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1600" i="1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sz="1600" i="1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𝑑</m:t>
                                  </m:r>
                                  <m: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·</m:t>
                                  </m:r>
                                  <m:func>
                                    <m:funcPr>
                                      <m:ctrlPr>
                                        <a:rPr lang="en-US" sz="1600" i="1" dirty="0">
                                          <a:solidFill>
                                            <a:srgbClr val="79C0F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600" dirty="0">
                                          <a:solidFill>
                                            <a:srgbClr val="79C0FF"/>
                                          </a:solidFill>
                                          <a:latin typeface="Cambria Math" panose="02040503050406030204" pitchFamily="18" charset="0"/>
                                          <a:ea typeface="Courier New" pitchFamily="34" charset="-122"/>
                                          <a:cs typeface="Courier New" pitchFamily="34" charset="-12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600" i="1" dirty="0">
                                              <a:solidFill>
                                                <a:srgbClr val="79C0FF"/>
                                              </a:solidFill>
                                              <a:latin typeface="Cambria Math" panose="02040503050406030204" pitchFamily="18" charset="0"/>
                                              <a:ea typeface="Courier New" pitchFamily="34" charset="-122"/>
                                              <a:cs typeface="Courier New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i="1" dirty="0">
                                              <a:solidFill>
                                                <a:srgbClr val="79C0FF"/>
                                              </a:solidFill>
                                              <a:latin typeface="Cambria Math" panose="02040503050406030204" pitchFamily="18" charset="0"/>
                                              <a:ea typeface="Courier New" pitchFamily="34" charset="-122"/>
                                              <a:cs typeface="Courier New" pitchFamily="34" charset="-120"/>
                                            </a:rPr>
                                            <m:t>𝛽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− </m:t>
                                  </m:r>
                                  <m:r>
                                    <a:rPr lang="en-US" sz="1600" i="1" dirty="0">
                                      <a:solidFill>
                                        <a:srgbClr val="79C0FF"/>
                                      </a:solidFill>
                                      <a:latin typeface="Cambria Math" panose="02040503050406030204" pitchFamily="18" charset="0"/>
                                      <a:ea typeface="Courier New" pitchFamily="34" charset="-122"/>
                                      <a:cs typeface="Courier New" pitchFamily="34" charset="-12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sz="1600" i="1" dirty="0">
                                  <a:solidFill>
                                    <a:srgbClr val="79C0FF"/>
                                  </a:solidFill>
                                  <a:latin typeface="Cambria Math" panose="02040503050406030204" pitchFamily="18" charset="0"/>
                                  <a:ea typeface="Courier New" pitchFamily="34" charset="-122"/>
                                  <a:cs typeface="Courier New" pitchFamily="34" charset="-120"/>
                                </a:rPr>
                                <m:t> </m:t>
                              </m:r>
                            </m:den>
                          </m:f>
                        </m:e>
                      </m:rad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≈  4.15 </m:t>
                      </m:r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𝑚</m:t>
                      </m:r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/</m:t>
                      </m:r>
                      <m:r>
                        <a:rPr lang="en-US" sz="1600" i="1" dirty="0" smtClean="0">
                          <a:solidFill>
                            <a:srgbClr val="79C0FF"/>
                          </a:solidFill>
                          <a:latin typeface="Cambria Math" panose="02040503050406030204" pitchFamily="18" charset="0"/>
                          <a:ea typeface="Courier New" pitchFamily="34" charset="-122"/>
                          <a:cs typeface="Courier New" pitchFamily="34" charset="-120"/>
                        </a:rPr>
                        <m:t>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0120"/>
                <a:ext cx="8229600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6517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Velocity (v₀)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 m/s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&amp; Tested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Angle (β)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Mechanical Constraint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Draw (Max)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5.0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 Safety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Safety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 Compliant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Compliance Protocols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6128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69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Concealed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electrical wiring routed through internal structural channels to remain completely hidden and safe.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83480" y="116128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57800" y="1069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Safety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resettable 5A PTC fuse safeguards logic and motor rails against stall-current overloads and overheating.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990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Child-Safe Materials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 PLA and smoothed MDF surfaces eliminate sharp edges and chemical exposure risks.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83480" y="3081528"/>
            <a:ext cx="164592" cy="16459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2990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Interrupt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master-stop button provides immediate electrical isolation of all high-power actuators.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OrbitQuest: Launching Curiosity into STEM  ·  Ain Shams University &amp; University of East London  ·  Project Defense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592</Words>
  <Application>Microsoft Office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PlanetSort: OrbitQuest</dc:title>
  <dc:subject>PptxGenJS Presentation</dc:subject>
  <dc:creator>PptxGenJS</dc:creator>
  <cp:lastModifiedBy>Abdoulrahman Adel Abdulrazek SAYED</cp:lastModifiedBy>
  <cp:revision>3</cp:revision>
  <dcterms:created xsi:type="dcterms:W3CDTF">2026-06-11T19:30:15Z</dcterms:created>
  <dcterms:modified xsi:type="dcterms:W3CDTF">2026-06-11T19:41:58Z</dcterms:modified>
</cp:coreProperties>
</file>